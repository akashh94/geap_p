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Outfit"/>
              </a:defRPr>
            </a:pPr>
            <a:r>
              <a:t>GEMINI ENTERPRISE AGENT PLATFORM</a:t>
            </a:r>
          </a:p>
          <a:p>
            <a:pPr>
              <a:spcBef>
                <a:spcPts val="1000"/>
              </a:spcBef>
              <a:defRPr sz="2800" b="1">
                <a:solidFill>
                  <a:srgbClr val="C5A059"/>
                </a:solidFill>
                <a:latin typeface="Outfit"/>
              </a:defRPr>
            </a:pPr>
            <a:r>
              <a:t>E*TRADE Wealth Integration Proof-of-Concept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Outfit"/>
              </a:defRPr>
            </a:pPr>
            <a:r>
              <a:t>Secure Autonomous Multi-Agent Workflows in Wealth Management</a:t>
            </a:r>
          </a:p>
          <a:p>
            <a:pPr>
              <a:spcBef>
                <a:spcPts val="3000"/>
              </a:spcBef>
              <a:defRPr sz="1200" b="1">
                <a:solidFill>
                  <a:srgbClr val="9333EA"/>
                </a:solidFill>
                <a:latin typeface="Outfit"/>
              </a:defRPr>
            </a:pPr>
            <a:r>
              <a:t>Executive Summary &amp; System Architecture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303520"/>
            <a:ext cx="4114800" cy="3657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Executive Summary &amp; Core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THE BUSINESS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Self-directed brokerage accounts represent high compliance, privacy, and cybersecurity risks for autonomous AI deployments. Key issues include: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PII Exposure: Leaking social security and account credentials to public LLMs.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Fiduciary Liability: Providing automated advisory suggestions without mandatory compliance disclaimers.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Unregulated Transfers: Risks associated with automated cash movement or wire fraud.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UTMA Minor Account Lockouts: Compliance gates protecting beneficiary wealth.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THE GEAP POC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A framework-free proof of concept demonstrating Morgan Stanley Wealth integration boundaries. Key highlights: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Security-First Middleware: Scans inputs client-side, redacting sensitive assets before LLM delivery.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Dynamic Auto-Routing: Multi-agent fleet (7 nodes) handles tasks under unique instructions and whitelists.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Fiduciary Guardrails: Automatically appends SIPC alerts and blocks wire movements to enforce manual callback loops.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No-Framework Performance: Ultra-fast load times with vanilla JS and local server-side minification.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Secure Prompt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4023360"/>
          </a:xfrm>
          <a:prstGeom prst="roundRect">
            <a:avLst/>
          </a:prstGeom>
          <a:solidFill>
            <a:srgbClr val="1B1728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1. Input &amp; Scrub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Outfit"/>
              </a:defRPr>
            </a:pPr>
            <a:r>
              <a:t>PII Shield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Detects and redacts SSNs, phone numbers, emails, and accounts before LLM transmission.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011680" cy="402336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2. Intent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8600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Outfit"/>
              </a:defRPr>
            </a:pPr>
            <a:r>
              <a:t>Auto-Router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Scores queries using keyword weights &amp; active page bias to assign the best specialist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828800"/>
            <a:ext cx="2011680" cy="402336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3. Context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28600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Outfit"/>
              </a:defRPr>
            </a:pPr>
            <a:r>
              <a:t>Context Engine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Appends real-time routes, balances, whitelist sources, and read-only restrictions.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28800"/>
            <a:ext cx="2011680" cy="402336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4. Stream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8600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Outfit"/>
              </a:defRPr>
            </a:pPr>
            <a:r>
              <a:t>Gemini 2.0 Flash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Processes requests and handles recursive function-calling loops locally.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828800"/>
            <a:ext cx="2011680" cy="4023360"/>
          </a:xfrm>
          <a:prstGeom prst="roundRect">
            <a:avLst/>
          </a:prstGeom>
          <a:solidFill>
            <a:srgbClr val="1B1728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5. Output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28600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Outfit"/>
              </a:defRPr>
            </a:pPr>
            <a:r>
              <a:t>Compliance Gate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Appends investment disclaimers, blocks outbound wires, and stages human desk fallbacks.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Unified Context Engine &amp; Auto-Router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UNIFIED CONTEXT ENGINE (context.js)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Ensures zero context drift across multiple agent instances. Injects a structured state package into the system prompt: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✔ Selected Account context (net values, settling cash, account type).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✔ Active platform details (route pathname, CSS theme).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✔ User permissions and whitelisted sources (e.g. Yahoo Finance, SEC Edgar).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✔ Read-Only status to block write/navigation tools in restrictive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INTENT AUTO-ROUTER (agents.js)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Routes queries instantly without requesting user confirmation. It processes routing weight through a two-fold check: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Keyword Matches: Matches queries with thematic keywords (e.g. 'tax harvest' -&gt; Analyst, 'refi' -&gt; Mortgage).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Active Page Route Bias: Shifts auto-routing weights dynamically based on what page the user is viewing.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Dynamic Fleet Management: Deploys register/deregister APIs allowing admins to spawn/retract agents on-the-fly.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The Specialized Multi-Agent Fleet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Portfolio Analyst 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Outfit"/>
              </a:defRPr>
            </a:pPr>
            <a:r>
              <a:t>ALLOCATION &amp; RISK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Reviews weights, sector concentration, and suggests rebalancing and tax-loss harvesting candidates.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Trade Assistant 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Outfit"/>
              </a:defRPr>
            </a:pPr>
            <a:r>
              <a:t>EXECUTION &amp; QUOTES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Provides quotes, explains limit/stop orders, size risk, and validates buying power.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Market Research 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103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Outfit"/>
              </a:defRPr>
            </a:pPr>
            <a:r>
              <a:t>MARKET INTELLIGENCE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Reviews macro data, trends, stock comparisons, and fundamentals (P/E, EPS).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Customer Support 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Outfit"/>
              </a:defRPr>
            </a:pPr>
            <a:r>
              <a:t>NAVIGATION &amp; FAQ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Answers platform support, transfer methods, documents, and fee structures.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291840" cy="201168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Super Agent 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Outfit"/>
              </a:defRPr>
            </a:pPr>
            <a:r>
              <a:t>MS RESEARCH &amp; ALTS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Integrates Morgan Stanley Research and alts (crypto/ETFs, gold, private equity).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291840" cy="201168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Mortgage Agent 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  <a:latin typeface="Outfit"/>
              </a:defRPr>
            </a:pPr>
            <a:r>
              <a:t>MORTGAGE &amp; HELOC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Directs Jumbo/Rocket paths and extracts customer location, timelines, and HELOC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Privacy Shield &amp; PII Scrubber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CLIENT-SIDE DATA REDACTION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Before transmitting prompt text to external Google Gemini servers, the GEAP local middleware scans and scrubs sensitive data matching: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Social Security Numbers (redacted to [REDACTED SSN])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Brokerage Account Numbers (redacted to [REDACTED ACCOUNT])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Email Addresses (redacted to [REDACTED EMAIL])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Phone Numbers (redacted to [REDACTED PHONE])</a:t>
            </a:r>
          </a:p>
          <a:p>
            <a:pPr>
              <a:spcBef>
                <a:spcPts val="2000"/>
              </a:spcBef>
              <a:defRPr sz="1200" b="1">
                <a:solidFill>
                  <a:srgbClr val="34D399"/>
                </a:solidFill>
                <a:latin typeface="Outfit"/>
              </a:defRPr>
            </a:pPr>
            <a:r>
              <a:t>🛡️ Prompts reach the cloud clean. This ensures strict compliance with Morgan Stanley data governance guidelines.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DEMONSTRATION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059"/>
                </a:solidFill>
                <a:latin typeface="Outfit"/>
              </a:defRPr>
            </a:pPr>
            <a:r>
              <a:t>User Input: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"Test PII scrubber: my SSN is 111-22-3333 and my account is 1234-5678"</a:t>
            </a:r>
          </a:p>
          <a:p>
            <a:pPr>
              <a:defRPr sz="1100" b="1">
                <a:solidFill>
                  <a:srgbClr val="9333EA"/>
                </a:solidFill>
                <a:latin typeface="Outfit"/>
              </a:defRPr>
            </a:pPr>
            <a:r>
              <a:t>Scrubbed Prompt Transmitted to LLM: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34D399"/>
                </a:solidFill>
                <a:latin typeface="Consolas"/>
              </a:defRPr>
            </a:pPr>
            <a:r>
              <a:t>"Test PII scrubber: my SSN is [REDACTED SSN] and my account is [REDACTED ACCOUNT]"</a:t>
            </a:r>
          </a:p>
          <a:p>
            <a:pPr>
              <a:defRPr sz="1200">
                <a:solidFill>
                  <a:srgbClr val="94A3B8"/>
                </a:solidFill>
                <a:latin typeface="Outfit"/>
              </a:defRPr>
            </a:pPr>
            <a:r>
              <a:t>Visual Alert: The interface immediately renders a security banner informing the user that their data has been scrubbed for privacy before sending.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Compliance Gates &amp; Human Handoffs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FIDUCIARY DISCLOSURES &amp; UTMA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Outfit"/>
              </a:defRPr>
            </a:pPr>
            <a:r>
              <a:t>Fiduciary Advice Disclaimers: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100">
                <a:solidFill>
                  <a:srgbClr val="94A3B8"/>
                </a:solidFill>
                <a:latin typeface="Outfit"/>
              </a:defRPr>
            </a:pPr>
            <a:r>
              <a:t>When investment keywords (e.g. portfolio, buy, rebalance, fund) are detected, the system appends mandatory disclaimers detailing that advice is educational and not personalized.</a:t>
            </a:r>
          </a:p>
          <a:p>
            <a:pPr>
              <a:defRPr sz="1300" b="1">
                <a:solidFill>
                  <a:srgbClr val="F8FAFC"/>
                </a:solidFill>
                <a:latin typeface="Outfit"/>
              </a:defRPr>
            </a:pPr>
            <a:r>
              <a:t>UTMA Minor Account Lockouts: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If a custodial UTMA account is selected, outbound electronic cash transfers are blocked. System raises UTMA compliance gates reminding that custodial funds belong irrevocably to the minor.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HIGH-RISK ACTION HANDOFF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Outfit"/>
              </a:defRPr>
            </a:pPr>
            <a:r>
              <a:t>Wire &amp; Withdrawal Gates: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100">
                <a:solidFill>
                  <a:srgbClr val="94A3B8"/>
                </a:solidFill>
                <a:latin typeface="Outfit"/>
              </a:defRPr>
            </a:pPr>
            <a:r>
              <a:t>Outbound wires or transfers above $10,000 are classified as high-risk. Autonomous execution is blocked. Instead, the system stages a transaction draft and initiates handoff: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➔ Intent captured and sent to the core advisor dashboard.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➔ Generates support callback tickets (e.g. MS-WIRE-84920).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➔ Directs the user to secure telephone advisor desks.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Admin Diagnostics &amp; Monitoring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AGENT STUDIO (CONFIGURATION)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A dashboard allowing admins to design, configure, and inspect individual agents: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Visual Node Flow: Displays logic pathways from User Input -&gt; Router -&gt; Agent Fleet.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Model Customization: Adjusts model templates and temperature parameters.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Equipped Tool Whitelisting: Selects specific JS tools allowed for each agent.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Studio Test Console: Offers isolated text testing with context print-outs.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AGENT FABRIC (GOVERNANCE)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Widescreen analytics console showing real-time agent metrics and controls: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Performance Monitoring: Tracks total requests, response latency, token consumption, and model success rates.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Real-Time Activity Log: Visualizes live routed queries and error status flags.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Active Governance Panel: Allows toggling safety guardrails, PII scrubbers, and disclaimer rules.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• Router Mapping: Inspects network loads across agents in the fleet.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Tech Stack &amp; System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LIGHTWEIGHT STACK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The application avoids bulky frameworks to minimize dependency risk and simplify audits: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Backend: Node.js, Express, OAuth 1.0a handshake, custom server.log routing.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Frontend: HTML5, CSS3, Vanilla JS SPA framework, Canvas charting.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LLM SDK: @google/genai fetched dynamically via esm.run, streaming.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News Feed Proxy: Node parsing Google News XML feed into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TEST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A full automated verification test harness ensures deployment stability: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✔ Unit Tests: Validates auto-routing keyword scores, transaction calculations, and context engine payloads.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✔ Integration Tests: Validates session storage updates, Google News proxy parsing, and Express endpoints.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✔ E2E Browser Tests: Puppeteer scripts launch a headless browser, simulate chat scenarios, input keys, and verify PII scrubbing.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  <a:latin typeface="Outfit"/>
              </a:defRPr>
            </a:pPr>
            <a:r>
              <a:t>GEAP E*TRADE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Summary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DEMONSTRATED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The proof of concept successfully validates that autonomous LLM agents can be deployed in wealth portfolios with strict safety parameters: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Protects client assets via client-side scrubbing.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Adheres to financial regulation via fiduciary filters.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Enforces manual human gates for transfers and UTMA compliance.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Outfit"/>
              </a:defRPr>
            </a:pPr>
            <a:r>
              <a:t>✦ Tracks agent performance and latency at an admin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B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A059"/>
                </a:solidFill>
                <a:latin typeface="Outfit"/>
              </a:defRPr>
            </a:pPr>
            <a:r>
              <a:t>PRODUCTION EXPANSION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Outfit"/>
              </a:defRPr>
            </a:pPr>
            <a:r>
              <a:t>Expanding the POC beyond mock data boundaries: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➔ Map prototype behavior to Morgan Stanley security, compliance, privacy, and model-risk requirements.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➔ Secure Entitlement Integrations: Connect to production identity profiles and access roles.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➔ Fiduciary Audit: Verify compliance of disclaimers with legal advisory groups.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Outfit"/>
              </a:defRPr>
            </a:pPr>
            <a:r>
              <a:t>➔ Pilot Deployment: Transition whitelisted sandbox connections toward limited customer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